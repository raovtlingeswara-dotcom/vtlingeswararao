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6" r:id="rId2"/>
    <p:sldId id="272" r:id="rId3"/>
    <p:sldId id="271" r:id="rId4"/>
    <p:sldId id="268" r:id="rId5"/>
    <p:sldId id="288" r:id="rId6"/>
    <p:sldId id="274" r:id="rId7"/>
    <p:sldId id="260" r:id="rId8"/>
    <p:sldId id="258" r:id="rId9"/>
    <p:sldId id="291" r:id="rId10"/>
    <p:sldId id="290" r:id="rId11"/>
    <p:sldId id="283" r:id="rId12"/>
    <p:sldId id="289" r:id="rId13"/>
    <p:sldId id="292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471" autoAdjust="0"/>
    <p:restoredTop sz="94660"/>
  </p:normalViewPr>
  <p:slideViewPr>
    <p:cSldViewPr snapToGrid="0">
      <p:cViewPr varScale="1">
        <p:scale>
          <a:sx n="82" d="100"/>
          <a:sy n="82" d="100"/>
        </p:scale>
        <p:origin x="106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09:06:55.5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 80 11429,'-1'-1'61,"1"0"-1,-1 0 0,1 0 1,0 0-1,0 0 0,-1-1 1,1 1-1,0 0 0,0 0 1,0 0-1,0-1 0,0 1 1,1 0-1,-1 0 0,0 0 1,1-1-1,-1 1 0,0 0 1,1 0-1,-1 0 0,1 0 1,0 0-1,-1 0 0,1 0 1,0 0-1,0 0 0,0 0 1,-1 1-1,1-1 0,0 0 1,0 0-1,0 1 0,0-1 1,0 0-1,0 1 0,1-1 1,-1 1-1,0 0 0,2-1 1,58-17-467,-48 15 554,13-4-456,0 2 1,29-2 0,-48 6 155,1 0 0,-1 1 0,1 1 1,-1-1-1,0 1 0,1 0 1,-1 1-1,0 0 0,0 0 0,0 0 1,0 1-1,9 5 0,-14-7 147,0 1 0,0 0 0,0 0 0,0 0-1,-1 0 1,1 1 0,0-1 0,-1 0 0,0 1 0,1-1-1,-1 1 1,0 0 0,0-1 0,-1 1 0,1 0 0,0-1-1,-1 1 1,0 0 0,1 0 0,-1-1 0,0 1 0,-1 0-1,1 0 1,0-1 0,-1 1 0,0 0 0,1 0 0,-1-1-1,0 1 1,0-1 0,-1 1 0,0 2 0,-5 9 221,0-1 1,-1 0-1,0 0 1,-15 18 0,11-16 124,0-1 0,-1-1 0,-1 0 0,0-1 1,0-1-1,-2 0 0,1 0 0,-22 9 0,37-20-377,0 0-1,0 0 0,0 0 0,0 0 0,0 0 1,0 0-1,0 0 0,0 0 0,0 0 0,0 0 1,0-1-1,0 1 0,0 0 0,0 0 1,-1 0-1,1 0 0,0 0 0,0 0 0,0 0 1,0 0-1,0 0 0,0 0 0,0 0 0,0 0 1,0 0-1,0 0 0,0-1 0,14-10-1216,26-17-2386,13-5-2055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09:08:35.6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17 13846,'2'0'25,"0"1"-1,1-1 0,-1 1 0,0-1 0,0 0 1,0 0-1,0 0 0,0 0 0,0 0 1,0-1-1,0 1 0,0-1 0,1 1 0,-1-1 1,0 0-1,-1 1 0,1-1 0,0 0 0,3-2 1,15-4 69,-17 6-40,1 0 0,-1 1-1,1 0 1,-1 0 0,1 0-1,-1 0 1,1 0 0,-1 1 0,4 0-1,-4 9 1077,-16 9-166,-2-3-532,10-12-466,0 0 0,1 1-1,0 0 1,0-1-1,1 1 1,-1 0 0,-2 7-1,6-12-14,1 1 0,-1 0 0,1-1 1,-1 1-1,1 0 0,-1-1 0,1 1 0,0-1 0,-1 1 0,1-1 0,0 1 0,-1-1 0,1 1 0,0-1 1,0 0-1,0 1 0,-1-1 0,1 0 0,0 0 0,0 0 0,0 1 0,-1-1 0,1 0 0,0 0 0,0 0 1,0 0-1,0-1 0,-1 1 0,2 0 0,57-11-3299,-31 4 1160,36-4-2996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09:13:25.9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34 23 9044,'-14'-12'3041,"18"5"-1871,31 6-1200,-25 1 176,23-1-126,33 0-120,-62 1 86,1 0 0,-1 1 0,0-1 0,0 1 0,0 0 0,0 0 0,0 1 0,0-1 0,0 1 0,-1 0 0,7 4 0,-9-5 31,0 0-1,-1 0 0,1 0 0,0 0 1,-1 0-1,0 0 0,1 0 0,-1 0 1,1 0-1,-1 0 0,0 0 1,0 0-1,0 1 0,0-1 0,0 0 1,0 0-1,0 0 0,0 0 0,0 0 1,0 0-1,-1 1 0,1-1 1,0 0-1,-1 0 0,1 0 0,-1 0 1,1 0-1,-1 0 0,1 0 0,-1 0 1,-1 1-1,-23 29 434,25-31-439,-184 171 1587,183-170-1609,0 0 0,0 0 0,0 0 0,0 0 0,0 0 0,1 0-1,-1 0 1,0 0 0,1 0 0,-1 1 0,1-1 0,-1 0 0,1 0 0,-1 1 0,1 1-1,0-3 1,0 1-1,0-1 0,0 1 0,0-1 0,0 1 0,1-1 1,-1 1-1,0-1 0,0 1 0,1-1 0,-1 1 0,0-1 1,0 0-1,1 1 0,-1-1 0,1 1 0,-1-1 0,0 0 1,1 1-1,-1-1 0,1 0 0,-1 1 0,1-1 0,-1 0 0,2 1 1,1 0-91,1 0 1,0-1-1,0 1 1,0-1 0,-1 1-1,1-1 1,0 0 0,0-1-1,7 0 1,8-4-813,0 0 1,-1-1-1,0-1 1,20-11-1,30-20-3087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09:15:06.1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518 288 8324,'2'-28'964,"-1"1"1,-2-1-1,-4-35 1,3 53-685,1 1 0,-2-1 0,1 1 0,-1-1 0,-1 1 0,1 0 1,-2 0-1,1 0 0,-1 1 0,0 0 0,-1 0 0,-13-14 0,18 20-266,0 1 0,-1 0 0,1 0 0,0 0 0,-1 0-1,1 1 1,-1-1 0,1 0 0,-1 0 0,1 1 0,-1-1 0,0 1 0,1 0-1,-1-1 1,0 1 0,1 0 0,-1 0 0,0 0 0,1 0 0,-1 0-1,-3 1 1,1 1 3,0-1 0,0 1 0,0 0 0,0 0 0,0 0 0,0 0 0,1 1 0,-6 4 0,-5 6 40,1 1 0,-24 31 0,35-41-40,-39 52 85,4 2 1,1 1-1,4 2 0,2 2 1,3 0-1,2 2 0,4 1 1,2 1-1,3 0 0,-7 73 1,21-113-74,1 0 0,1 0 1,1-1-1,2 1 1,1 0-1,0-1 0,2 0 1,1 0-1,1-1 1,18 39-1,-16-45-23,1 0 0,1-1 0,0 0-1,1-1 1,1 0 0,0-1 0,1-1 0,1 0 0,1-1 0,0-1 0,1-1-1,0 0 1,28 13 0,-11-10-128,1-1 1,0-2-1,1-2 0,0-1 0,1-2 0,0-2 0,0-1 1,0-2-1,0-1 0,1-2 0,49-8 0,-80 8 43,0-1-1,1 1 0,-1-1 0,0-1 1,0 1-1,0-1 0,-1-1 0,11-5 1,-15 7-148,-1-1-1,1 1 1,-1 0 0,1-1 0,-1 1 0,0-1-1,0 1 1,0-1 0,1-4 0,0 2-528,-2 0-1,1 0 1,-1 0 0,1 0 0,-1 0 0,-1 0 0,1-6-1,0-13-4862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09:15:06.4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75 29 12310,'-2'0'82,"1"-1"1,0 0 0,0 0-1,0 0 1,0 0 0,0-1-1,0 1 1,1 0-1,-1 0 1,0 0 0,1-1-1,-1 1 1,0 0 0,1-1-1,0 1 1,-1-1 0,1 1-1,0-1 1,-1-1 0,9 0 460,11 15-605,11 16 56,-2 1 0,0 1 0,-2 1 0,37 59 1,-62-88 105,1 1 0,0 0 1,0-1-1,-1 1 0,0 0 1,1 0-1,-1 0 0,0 0 1,0 0-1,-1 0 0,1 0 1,-1 0-1,1 0 0,-1 0 1,0 1-1,0-1 0,-1 0 1,0 6-1,-2-4 121,1 0 0,-1 0 1,-1 0-1,1 0 0,-1-1 1,0 1-1,0-1 0,0 0 1,-6 5-1,-43 37 142,18-17-547,3 1 1,-39 45 0,66-68-628,-1 0-1,1 0 1,1 1-1,-1 0 1,1 0 0,-4 13-1,1 9-6461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09:15:55.1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305 399 12774,'6'-106'2865,"-4"5"-2801,-2 16 544,-5 24 721,2 21-1329,3 35 32,-2 55-32,-6 61 528,-8 75-368,-13 81-64,-16 76-96,-16 45-640,-11 5-1521,0-36-1649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09:15:58.46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207 81 12966,'-66'-15'992,"11"0"-543,12-5 1343,17 0-735,10 15-1057,18 0-48,12 5-128,17 5 352,25 5-64,18-5-96,19 0-16,11 0-752,-4-5-513,-4-5-608,-14-5-880,-16-5-1489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09:15:58.7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45 29 7059,'-8'-3'783,"5"2"-645,0 0-1,0 0 1,0 0 0,0 0-1,1-1 1,-1 1-1,0-1 1,1 0 0,-1 1-1,1-1 1,0 0-1,-3-3 1,7 1 122,6 6-53,9 6 49,12 8-25,-1 1-1,49 42 1,-69-52-72,0 0 1,0 1-1,0 0 1,-1 0-1,-1 1 0,1 0 1,-2 0-1,1 1 0,-1 0 1,0 0-1,-1 0 1,5 18-1,-9-24-54,1 1-1,-1-1 1,0 0-1,0 1 1,-1-1 0,1 1-1,-1-1 1,0 0-1,-1 1 1,1-1 0,-1 0-1,1 0 1,-1 0 0,0 0-1,-1 0 1,1 0-1,-1-1 1,-3 5 0,-8 7-231,0 0 1,-29 23-1,-2 2-3614,32-24-14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09:15:59.2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337 250 8580,'3'-40'3968,"-4"34"-3852,1-7-53,0 1-1,-2 0 0,1-1 0,-2 1 0,0 0 0,0 0 1,-1 0-1,0 1 0,-1-1 0,-1 1 0,-7-12 0,11 19-55,-1 0 0,0 1 0,1-1 0,-1 1 0,-1 0 0,1 0 0,0 0 0,-1 1-1,0-1 1,1 1 0,-1-1 0,0 1 0,0 1 0,0-1 0,-1 0 0,1 1 0,0 0-1,0 0 1,-1 0 0,1 1 0,-1-1 0,1 1 0,-1 0 0,1 0 0,-1 1 0,1-1-1,0 1 1,-1 0 0,1 0 0,0 1 0,0-1 0,0 1 0,0 0 0,-5 3 0,-3 1-5,0 2 1,0 0 0,1 0 0,0 1 0,0 0 0,1 1 0,0 0 0,-12 17 0,17-21-18,0 1 0,1-1 0,0 1 0,0 0 0,1 0-1,0 0 1,0 0 0,0 0 0,1 1 0,0 0 0,1-1 0,-1 1 0,2 0 0,-1 0 0,1-1 0,1 16 0,0-19 18,0 0 0,1-1-1,-1 1 1,1-1 0,0 1-1,0-1 1,0 1 0,0-1 0,0 0-1,1 0 1,-1 0 0,1 0 0,0-1-1,0 1 1,0-1 0,0 1-1,1-1 1,3 2 0,8 3 36,0 0 0,1-1 0,17 4 0,6 3-108,-24-6 39,0 1 0,-1 0-1,0 1 1,0 0 0,0 1 0,-1 1 0,-1 0-1,0 0 1,-1 2 0,0-1 0,0 1 0,-2 1-1,1 0 1,-2 0 0,0 1 0,-1 0 0,0 0 0,5 22-1,-3-8 183,-1 1 0,-2-1 0,-1 1 0,-2 0-1,-1 1 1,-1-1 0,-1 0 0,-2 1 0,-7 39-1,8-62-20,-1-1-1,0 1 0,0-1 1,-1 0-1,1 0 0,-2 0 1,1 0-1,-1-1 0,0 1 1,0-1-1,-1 0 0,1 0 1,-1-1-1,-10 9 0,11-11-107,0-1 0,0 1-1,0-1 1,0 0 0,0 0 0,-1-1 0,1 1-1,-1-1 1,0 0 0,1 0 0,-1 0-1,1-1 1,-1 0 0,0 0 0,0 0-1,1 0 1,-1-1 0,0 0 0,1 0-1,-1 0 1,1 0 0,-1-1 0,1 0-1,-6-3 1,3 2-202,-1-2 0,2 1 0,-1-1-1,0 0 1,1 0 0,0 0 0,0-1 0,1 0-1,0 0 1,0-1 0,-8-13 0,7 9-645,0-1 0,1 0 0,1 0 0,0 0 0,0-1 0,-3-25 0,2-49-4733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09:16:00.0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25 7539,'25'-25'3594,"-24"26"-3545,0 0 0,0 0 0,0-1 0,0 1 0,0 0 0,-1 0 0,1 0 0,0 0 0,-1 0 0,1 0 1,-1 0-1,1 0 0,-1 1 0,0-1 0,1 0 0,-1 0 0,0 0 0,0 0 0,0 2 0,10 31 563,12 57 396,10 97 1,-32-199-840,0 1 0,1-1 0,0 0 0,0 1 0,1-1 1,1 1-1,-1-1 0,2 1 0,7-17 0,-10 25-176,1 1-1,-1 0 0,0 0 1,0 0-1,1 1 1,-1-1-1,1 0 0,-1 0 1,1 1-1,-1-1 0,1 1 1,-1-1-1,1 1 1,0 0-1,-1-1 0,1 1 1,-1 0-1,1 0 1,0 0-1,-1 0 0,1 1 1,-1-1-1,1 0 1,0 1-1,-1-1 0,1 1 1,-1-1-1,1 1 1,-1 0-1,1 0 0,-1 0 1,2 1-1,0 0-8,-1-1 0,0 0 0,0 0 0,1 0-1,-1 0 1,0 0 0,1-1 0,-1 1 0,1-1 0,-1 1 0,1-1 0,-1 0-1,1 0 1,-1 0 0,1-1 0,-1 1 0,1 0 0,-1-1 0,5-1 0,17-16-84,-21 15 79,0 0-1,0 1 0,0-1 0,1 1 0,-1 0 1,0 0-1,1 0 0,6-2 0,-9 4 16,1 0 0,-1 0 0,1 0-1,-1 0 1,1 0 0,-1 1-1,0-1 1,1 1 0,-1-1 0,1 1-1,-1-1 1,0 1 0,1-1-1,-1 1 1,0 0 0,0 0-1,1 0 1,-1 0 0,0 0 0,0 0-1,0 0 1,0 0 0,0 0-1,-1 1 1,1-1 0,0 0 0,0 1-1,0 1 1,15 25-3,-7-11 25,0 0 1,2-1 0,19 24-1,-27-36-19,0-1-1,1 0 1,-1 1-1,1-2 1,-1 1-1,1 0 1,0-1-1,0 1 1,0-1-1,0 0 1,0-1-1,1 1 1,-1-1 0,1 0-1,-1 0 1,1 0-1,-1 0 1,1-1-1,-1 0 1,9-1-1,-3-1-27,0 0-1,1-2 1,-1 1 0,0-1-1,0-1 1,-1 0 0,1 0-1,-1-1 1,-1 0 0,1 0-1,-1-1 1,0 0 0,0-1-1,10-12 1,-13 14 39,1-1 0,-1 1 0,-1-1 1,1 0-1,-1-1 0,0 1 0,-1-1 0,0 0 1,0 0-1,0 0 0,-1 0 0,-1 0 0,1-1 0,-1 1 1,-1 0-1,1-1 0,-1 1 0,-2-15 0,1 22-12,1-1-1,0 1 0,0-1 0,-1 1 1,1-1-1,-1 0 0,1 1 0,-1-1 1,0 1-1,0 0 0,1-1 1,-1 1-1,0 0 0,0-1 0,0 1 1,0 0-1,-1 0 0,1 0 0,0 0 1,0 0-1,-1 0 0,1 0 1,-1 1-1,1-1 0,-2 0 0,1 1 4,0-1 0,-1 2 0,1-1-1,0 0 1,0 0 0,0 1 0,-1-1-1,1 1 1,0 0 0,0 0-1,0-1 1,0 1 0,0 1 0,0-1-1,-2 2 1,-5 4-7,1 0 0,0 0 0,0 1 0,1 0-1,0 1 1,-7 9 0,13-15 18,-21 38-418,21-39 380,0 0 1,0-1-1,1 1 1,-1-1 0,1 1-1,-1 0 1,1 0-1,-1-1 1,1 1-1,0 0 1,0 0-1,0-1 1,0 1-1,0 0 1,1 0 0,-1-1-1,0 1 1,1 0-1,-1 0 1,1-1-1,0 1 1,0 1-1,0-2 41,0-1-1,1 1 0,-1-1 1,0 1-1,0-1 0,1 1 1,-1-1-1,0 0 0,1 0 1,-1 0-1,0 0 1,1 0-1,-1 0 0,0 0 1,1 0-1,-1 0 0,0 0 1,0-1-1,1 1 0,-1-1 1,0 1-1,0-1 0,1 1 1,-1-1-1,0 0 0,1-1 1,32-20 35,63-71 24,-97 92-78,1 1 1,0-1-1,-1 1 1,1-1-1,-1 1 1,1-1-1,0 1 1,0 0-1,-1-1 1,1 1-1,0 0 1,0-1-1,-1 1 1,1 0-1,0 0 1,0 0-1,-1 0 0,1 0 1,0 0-1,0 0 1,0 0-1,-1 0 1,1 0-1,0 0 1,0 1-1,-1-1 1,1 0-1,0 1 1,0-1-1,-1 0 1,1 1-1,0-1 1,-1 1-1,1-1 1,-1 1-1,1-1 1,0 1-1,-1-1 1,1 1-1,-1 0 0,1-1 1,-1 1-1,0 0 1,1-1-1,-1 1 1,0 0-1,1-1 1,-1 2-1,21 53 113,-11-25-213,-9-28-36,-1-1-1,1 1 0,0-1 0,-1 1 0,1-1 1,0 1-1,0-1 0,0 1 0,0-1 1,1 0-1,-1 1 0,0-1 0,0 0 0,1 0 1,-1 0-1,1 0 0,-1 0 0,1 0 0,-1-1 1,1 1-1,-1 0 0,1-1 0,0 1 1,-1-1-1,1 0 0,0 1 0,0-1 0,-1 0 1,1 0-1,0 0 0,0 0 0,-1-1 0,1 1 1,0 0-1,-1-1 0,1 1 0,0-1 0,-1 1 1,1-1-1,-1 0 0,1 0 0,-1 0 1,1 0-1,-1 0 0,1 0 0,-1 0 0,2-2 1,18-16-2529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09:16:00.1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33 182 5859,'-8'-45'2785,"2"5"-2529,-2 4-256,1 1-80,4 10-3586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09:16:00.3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 1012 6979,'-4'36'413,"2"-24"-106,0-1 1,0 1-1,2 0 1,-1 0 0,1-1-1,1 1 1,0 0 0,1 0-1,0-1 1,6 16 0,-8-26-275,0 0 1,1 0 0,-1-1 0,0 1-1,1 0 1,-1 0 0,0-1 0,1 1-1,-1 0 1,1-1 0,0 1 0,-1-1 0,1 1-1,-1-1 1,1 1 0,0-1 0,-1 1-1,1-1 1,0 1 0,0-1 0,-1 0-1,1 0 1,0 1 0,0-1 0,-1 0-1,1 0 1,0 0 0,0 0 0,0 0-1,0 0 1,-1 0 0,1 0 0,0 0-1,0 0 1,0 0 0,-1 0 0,1-1 0,0 1-1,0 0 1,-1-1 0,1 1 0,1-1-1,25-28 423,9-29-320,-2-2-1,-4-1 1,-2-1 0,-2-1-1,32-130 1,-20 22 1118,26-289 0,-61 419-1406,-3 36-26,-1 10-31,-7 66-370,-14 161-4085,0-62-117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09:16:00.5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45 549 15063,'-24'30'1585,"9"-14"-1121,9-16 1073,14-16-625,19-24-640,26-10-240,29-26-32,40-19-480,29-11-1473,21-5-304,9 10-2369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09:21:25.6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24 212 14038,'-24'-13'1757,"25"14"-1766,6 7-28,11 14 119,-1 1 1,-1 0-1,16 32 1,-19-31 156,1 0 1,2-1 0,27 33-1,-42-55-199,1 0 0,-1 0 0,0 1 1,1-1-1,-1 0 0,1 0 0,-1 0 0,1-1 0,-1 1 0,1 0 0,0-1 0,-1 1 0,1 0 1,0-1-1,-1 0 0,1 1 0,0-1 0,0 0 0,0 0 0,-1 0 0,1 0 0,0-1 1,0 1-1,-1 0 0,1-1 0,0 1 0,-1-1 0,1 1 0,0-1 0,-1 0 0,1 0 0,-1 0 1,1 0-1,-1 0 0,1 0 0,-1 0 0,0 0 0,0-1 0,1 1 0,1-3 0,6-7 83,0-1-1,-1 0 0,13-25 0,-15 27-150,11-22 30,2 0 1,2 2-1,1 0 0,1 1 1,1 2-1,1 0 0,39-31 1,-18 16 8,-39 33-11,1 1-1,1 1 0,-1-1 0,1 1 0,0 1 1,1 0-1,11-6 0,-41 17-2032,-1 0-3775,13-1-971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09:22:39.1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5001 89 8996,'3'-6'388,"-1"-1"-1,0 1 1,0-1-1,-1 1 1,0-1-1,0 0 1,0 0-1,-1 0 1,0 1-1,0-1 1,-2-9-1,-1 16-337,1 0 0,-1 0 0,1 1 0,0-1 0,0 1 0,-1-1 0,1 1 0,0 0 0,0 0 0,-1 0 0,1 0 0,0 0 0,-2 2 0,-1-1 16,-164 80 6,-17 7-29,-733 221 258,774-266-178,-60 26 63,-199 97 1,-182 122-26,512-251-130,-610 335 490,440-203-456,-27 16-2,94-75 193,150-96-121,-1 0-1,-42 14 1,-8 4 147,62-24-280,1 1 0,0 0 0,-25 24 1,-6 4 17,11-16 41,0-1 1,0-2-1,-69 26 1,2-1-15,71-27-25,0 2 1,1 0-1,-31 28 0,27-20 17,-40 9 247,72-34-416,6-4 158,9-9 133,3-11-137,-1 0 1,-1-1-1,-2 0 1,0-1 0,-1-1-1,10-34 1,-6 18-8,38-115 202,-53 155-121,-17 23 279,-37 70-197,31-55-110,2 1 1,-22 50 0,40-79-65,1 0 0,0 0 0,0-1 1,1 1-1,0 0 0,1 0 0,-1 0 0,2 0 1,-1 0-1,1 0 0,1 0 0,0 0 0,0 0 1,1-1-1,0 1 0,0-1 0,1 1 0,8 13 1,-6-13 3,0 0 1,0-1 0,1 0-1,0 0 1,0 0-1,0-1 1,1 0 0,0-1-1,1 0 1,0 0 0,0 0-1,0-1 1,0-1 0,1 0-1,18 6 1,59 3 103,-63-11-566,-1 1-1,35 10 1,-56-13 254,-1 1-1,0-1 1,1 1 0,-1-1 0,0 1 0,1-1 0,-1 1 0,0 0-1,0 0 1,0 0 0,1 0 0,-1 0 0,0 0 0,0 0 0,0 0 0,-1 0-1,1 0 1,0 0 0,0 1 0,-1-1 0,1 0 0,0 0 0,-1 1-1,0-1 1,1 1 0,-1-1 0,0 0 0,1 1 0,-1 1 0,-1 30-6125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A67C87-7622-4302-AA55-E43AA2AB2305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37F4A2-01C2-46BE-A46A-114CE2E732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79613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837F4A2-01C2-46BE-A46A-114CE2E7326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356451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sz="1800" b="0" i="0" u="none" strike="noStrike" baseline="0">
                <a:latin typeface="MyriadPro-SemiboldCond"/>
              </a:rPr>
              <a:t>Earlier Shared-Disk </a:t>
            </a:r>
            <a:r>
              <a:rPr lang="en-IN" sz="1800" b="0" i="0" u="none" strike="noStrike" baseline="0" dirty="0">
                <a:latin typeface="MyriadPro-SemiboldCond"/>
              </a:rPr>
              <a:t>(Scalable</a:t>
            </a:r>
            <a:r>
              <a:rPr lang="en-IN" sz="1800" b="0" i="0" u="none" strike="noStrike" baseline="0">
                <a:latin typeface="MyriadPro-SemiboldCond"/>
              </a:rPr>
              <a:t>) Architecture and Shared-Nothing (Scalable) Architecture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37F4A2-01C2-46BE-A46A-114CE2E7326C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99206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AA786B-F7E6-4F83-A841-AEE43DB8B6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654635E-9623-4BB6-8E89-AA5EA67403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710A68-D298-4DBF-A656-7BEEA33052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BFB551-5892-474D-A50A-48F086FA1AD4}" type="datetimeFigureOut">
              <a:rPr lang="en-IN" smtClean="0"/>
              <a:t>15-06-2026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DFE8E6-AA0C-44EC-AC46-20B8E22FD2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DE3C41-5BEE-4AB7-B21C-C1BFD0B67A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A3E11-157A-4E2F-897E-E213599978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032106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F52F15-C65E-4F9A-8C6A-8E26D8F6CA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2D3394-BCE2-48E8-920D-9855EA5B7E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EB4C97-9340-4577-9222-1940B96BC0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BFB551-5892-474D-A50A-48F086FA1AD4}" type="datetimeFigureOut">
              <a:rPr lang="en-IN" smtClean="0"/>
              <a:t>15-06-2026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3EEF9E-2384-4EAF-893D-79D4359692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AE0CBD-4327-48DE-853C-BC68BF6AF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A3E11-157A-4E2F-897E-E213599978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60160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4293C0-5738-4E51-BD17-3F22F90B7D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2DE218-0E73-4835-BE2A-2FD56AA662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0B615B-5EAF-43F4-99FF-731F3F8C71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BFB551-5892-474D-A50A-48F086FA1AD4}" type="datetimeFigureOut">
              <a:rPr lang="en-IN" smtClean="0"/>
              <a:t>15-06-2026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73F524-CAB4-4A91-B441-9AC220FE46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866571-ED78-4CB4-AFF2-1A5F13F68A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A3E11-157A-4E2F-897E-E213599978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27029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A96112-1FD6-454D-9961-A89920389F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9B1C23-D886-4E51-8140-CB31C382D09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7F76E7-CE7B-4CFF-AB02-24AE9E2996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547E91-4F96-4FCD-A77F-2627000F7C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BFB551-5892-474D-A50A-48F086FA1AD4}" type="datetimeFigureOut">
              <a:rPr lang="en-IN" smtClean="0"/>
              <a:t>15-06-2026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F8DFE6-C4CE-477E-91B5-8C0DAC3964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CA243C-3AD8-4FA6-B006-C30559099C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A3E11-157A-4E2F-897E-E213599978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35056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290AD5-A8C9-4842-89E4-73AF8F9E07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41EDF2-2E2A-4836-AE8A-7CC72AED15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C3667C0-AF05-4F28-8A72-97D6CB2159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35C1421-DA58-4C81-9B8F-EB9236EFCF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270457F-B9F4-4C7C-AFD6-755CEFA175A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1DD70D5-CEC5-444A-A4FA-4515E579B7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BFB551-5892-474D-A50A-48F086FA1AD4}" type="datetimeFigureOut">
              <a:rPr lang="en-IN" smtClean="0"/>
              <a:t>15-06-2026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C4B602F-EA5E-4801-A8B2-7ED002000A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422E076-EE52-445A-8857-07563FA53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A3E11-157A-4E2F-897E-E213599978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25388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920FFA-87C9-43E1-911F-DED5195305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A74BBC0-496D-457C-8BF7-73A442401A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BFB551-5892-474D-A50A-48F086FA1AD4}" type="datetimeFigureOut">
              <a:rPr lang="en-IN" smtClean="0"/>
              <a:t>15-06-2026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A14AF26-7AD8-45E1-AB1D-299C78C6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A5A09C-7B5A-4602-B3D6-4DC5A67CBD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A3E11-157A-4E2F-897E-E213599978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04357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B2E5335-4E73-4B95-B39F-95B7E9A910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BFB551-5892-474D-A50A-48F086FA1AD4}" type="datetimeFigureOut">
              <a:rPr lang="en-IN" smtClean="0"/>
              <a:t>15-06-2026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A455E29-DA32-4ABC-8AC0-96EB74557A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B4E6CC-99FA-4E17-A946-AF1D4CE80B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A3E11-157A-4E2F-897E-E213599978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08693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C84790-ED9B-4ACB-ACF7-7D4A63CD63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4E43D1-43DB-4959-AB50-AD4734BC27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91A8E6F-C62D-46EC-9644-99BF92D27B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228998-46F3-4D66-A7D4-CCCD0DF3DB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BFB551-5892-474D-A50A-48F086FA1AD4}" type="datetimeFigureOut">
              <a:rPr lang="en-IN" smtClean="0"/>
              <a:t>15-06-2026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B717E4-FE2F-4CA0-A812-A918A1A6BB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898215-BCD5-4090-BDD4-AC3CBB0255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A3E11-157A-4E2F-897E-E213599978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37851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04A372-A6C1-4012-A724-36D582E6F6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D036F0C-EE53-4455-867C-A2A1C41ECDE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3C4B148-641D-4596-861C-93EAE329FD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22B14B-9857-404C-B190-6E1B4AC0EF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BFB551-5892-474D-A50A-48F086FA1AD4}" type="datetimeFigureOut">
              <a:rPr lang="en-IN" smtClean="0"/>
              <a:t>15-06-2026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12F14E-33F7-4310-846F-FE57C5F906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53ACA2-4F6A-4D1D-A3DC-515DA03643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A3E11-157A-4E2F-897E-E213599978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0059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17AD41-6E72-48FE-89E8-A140F65D5D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976F92A-A2C2-427C-83FA-D7F20EFC76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C1333B-88E7-4674-ADBE-CCD5972039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BFB551-5892-474D-A50A-48F086FA1AD4}" type="datetimeFigureOut">
              <a:rPr lang="en-IN" smtClean="0"/>
              <a:t>15-06-2026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9A8B91-69AD-4B9E-AEE3-2D0F6AAF33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EE6013-750D-43C1-BF80-27A51A2BAB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A3E11-157A-4E2F-897E-E213599978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09365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4E1DEB1-019F-43AC-8E82-E7BF38104EB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F316E22-8E40-4D5D-86AD-DE42929DB1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27AE56-39DA-4B4C-BF8F-062710AE5C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BFB551-5892-474D-A50A-48F086FA1AD4}" type="datetimeFigureOut">
              <a:rPr lang="en-IN" smtClean="0"/>
              <a:t>15-06-2026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691524-18E3-4AC1-9B61-B3A5F3A169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EE67FA-5E08-473B-B0F5-EDEC3A0A26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A3E11-157A-4E2F-897E-E213599978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72151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68ECB3E-607F-4684-8F65-A800640F58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1322FB-A041-4EA6-A843-2F32BBC077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2A366A-1881-493B-8F33-E90D22B9CE0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BFB551-5892-474D-A50A-48F086FA1AD4}" type="datetimeFigureOut">
              <a:rPr lang="en-IN" smtClean="0"/>
              <a:t>15-06-2026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17E781-CAB8-40B7-8F6E-A6F7DB1488A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222FEF-EF15-455E-B61C-14BE0B9C6A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FA3E11-157A-4E2F-897E-E213599978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95288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12" Type="http://schemas.openxmlformats.org/officeDocument/2006/relationships/customXml" Target="../ink/ink3.xml"/><Relationship Id="rId33" Type="http://schemas.openxmlformats.org/officeDocument/2006/relationships/image" Target="../media/image18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.xml"/><Relationship Id="rId11" Type="http://schemas.openxmlformats.org/officeDocument/2006/relationships/image" Target="../media/image7.png"/><Relationship Id="rId5" Type="http://schemas.openxmlformats.org/officeDocument/2006/relationships/image" Target="../media/image4.png"/><Relationship Id="rId4" Type="http://schemas.openxmlformats.org/officeDocument/2006/relationships/customXml" Target="../ink/ink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2.png"/><Relationship Id="rId13" Type="http://schemas.openxmlformats.org/officeDocument/2006/relationships/customXml" Target="../ink/ink7.xml"/><Relationship Id="rId18" Type="http://schemas.openxmlformats.org/officeDocument/2006/relationships/image" Target="../media/image197.png"/><Relationship Id="rId26" Type="http://schemas.openxmlformats.org/officeDocument/2006/relationships/image" Target="../media/image201.png"/><Relationship Id="rId3" Type="http://schemas.openxmlformats.org/officeDocument/2006/relationships/image" Target="../media/image6.png"/><Relationship Id="rId21" Type="http://schemas.openxmlformats.org/officeDocument/2006/relationships/customXml" Target="../ink/ink11.xml"/><Relationship Id="rId7" Type="http://schemas.openxmlformats.org/officeDocument/2006/relationships/customXml" Target="../ink/ink4.xml"/><Relationship Id="rId12" Type="http://schemas.openxmlformats.org/officeDocument/2006/relationships/image" Target="../media/image194.png"/><Relationship Id="rId17" Type="http://schemas.openxmlformats.org/officeDocument/2006/relationships/customXml" Target="../ink/ink9.xml"/><Relationship Id="rId25" Type="http://schemas.openxmlformats.org/officeDocument/2006/relationships/customXml" Target="../ink/ink13.xml"/><Relationship Id="rId2" Type="http://schemas.openxmlformats.org/officeDocument/2006/relationships/image" Target="../media/image5.png"/><Relationship Id="rId16" Type="http://schemas.openxmlformats.org/officeDocument/2006/relationships/image" Target="../media/image196.png"/><Relationship Id="rId20" Type="http://schemas.openxmlformats.org/officeDocument/2006/relationships/image" Target="../media/image19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11" Type="http://schemas.openxmlformats.org/officeDocument/2006/relationships/customXml" Target="../ink/ink6.xml"/><Relationship Id="rId24" Type="http://schemas.openxmlformats.org/officeDocument/2006/relationships/image" Target="../media/image200.png"/><Relationship Id="rId5" Type="http://schemas.openxmlformats.org/officeDocument/2006/relationships/image" Target="../media/image9.png"/><Relationship Id="rId15" Type="http://schemas.openxmlformats.org/officeDocument/2006/relationships/customXml" Target="../ink/ink8.xml"/><Relationship Id="rId23" Type="http://schemas.openxmlformats.org/officeDocument/2006/relationships/customXml" Target="../ink/ink12.xml"/><Relationship Id="rId10" Type="http://schemas.openxmlformats.org/officeDocument/2006/relationships/image" Target="../media/image193.png"/><Relationship Id="rId19" Type="http://schemas.openxmlformats.org/officeDocument/2006/relationships/customXml" Target="../ink/ink10.xml"/><Relationship Id="rId4" Type="http://schemas.openxmlformats.org/officeDocument/2006/relationships/image" Target="../media/image8.png"/><Relationship Id="rId9" Type="http://schemas.openxmlformats.org/officeDocument/2006/relationships/customXml" Target="../ink/ink5.xml"/><Relationship Id="rId14" Type="http://schemas.openxmlformats.org/officeDocument/2006/relationships/image" Target="../media/image195.png"/><Relationship Id="rId22" Type="http://schemas.openxmlformats.org/officeDocument/2006/relationships/image" Target="../media/image19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ustomXml" Target="../ink/ink14.xml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4.png"/><Relationship Id="rId5" Type="http://schemas.openxmlformats.org/officeDocument/2006/relationships/customXml" Target="../ink/ink15.xml"/><Relationship Id="rId4" Type="http://schemas.openxmlformats.org/officeDocument/2006/relationships/image" Target="../media/image20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wmf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First concepts about Snowflake. Snowpro Certification | by Sol M. Lozano🦁  | Aug, 2022 | Globant">
            <a:extLst>
              <a:ext uri="{FF2B5EF4-FFF2-40B4-BE49-F238E27FC236}">
                <a16:creationId xmlns:a16="http://schemas.microsoft.com/office/drawing/2014/main" id="{FEFB6576-288A-F088-8E6C-A30DF8ED20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27805" y="1878330"/>
            <a:ext cx="7382514" cy="22547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078226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Traditional - ETL / DWH / BI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60338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82F865DC-23E8-491D-94E8-1E8735E9E5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5694" y="959741"/>
            <a:ext cx="11043199" cy="48295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ED60DD70-AF9C-EEAD-BC0D-B9627A030B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5040" y="3429000"/>
            <a:ext cx="947345" cy="282598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5A35E02E-51C7-56B3-C3CC-9B631C02C292}"/>
                  </a:ext>
                </a:extLst>
              </p14:cNvPr>
              <p14:cNvContentPartPr/>
              <p14:nvPr/>
            </p14:nvContentPartPr>
            <p14:xfrm>
              <a:off x="3795331" y="4308902"/>
              <a:ext cx="119520" cy="112320"/>
            </p14:xfrm>
          </p:contentPart>
        </mc:Choice>
        <mc:Fallback xmlns=""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5A35E02E-51C7-56B3-C3CC-9B631C02C292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789211" y="4302782"/>
                <a:ext cx="131760" cy="124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029" name="Ink 1028">
                <a:extLst>
                  <a:ext uri="{FF2B5EF4-FFF2-40B4-BE49-F238E27FC236}">
                    <a16:creationId xmlns:a16="http://schemas.microsoft.com/office/drawing/2014/main" id="{81A577AC-6B99-C7C0-3804-A9EF98C9CC82}"/>
                  </a:ext>
                </a:extLst>
              </p14:cNvPr>
              <p14:cNvContentPartPr/>
              <p14:nvPr/>
            </p14:nvContentPartPr>
            <p14:xfrm>
              <a:off x="7258171" y="3820382"/>
              <a:ext cx="77760" cy="36720"/>
            </p14:xfrm>
          </p:contentPart>
        </mc:Choice>
        <mc:Fallback xmlns="">
          <p:pic>
            <p:nvPicPr>
              <p:cNvPr id="1029" name="Ink 1028">
                <a:extLst>
                  <a:ext uri="{FF2B5EF4-FFF2-40B4-BE49-F238E27FC236}">
                    <a16:creationId xmlns:a16="http://schemas.microsoft.com/office/drawing/2014/main" id="{81A577AC-6B99-C7C0-3804-A9EF98C9CC82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7252051" y="3814262"/>
                <a:ext cx="90000" cy="48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132" name="Ink 1131">
                <a:extLst>
                  <a:ext uri="{FF2B5EF4-FFF2-40B4-BE49-F238E27FC236}">
                    <a16:creationId xmlns:a16="http://schemas.microsoft.com/office/drawing/2014/main" id="{4ACF8A0F-8981-48FC-A3F9-677C8CC513D0}"/>
                  </a:ext>
                </a:extLst>
              </p14:cNvPr>
              <p14:cNvContentPartPr/>
              <p14:nvPr/>
            </p14:nvContentPartPr>
            <p14:xfrm>
              <a:off x="7532491" y="3685742"/>
              <a:ext cx="84960" cy="104400"/>
            </p14:xfrm>
          </p:contentPart>
        </mc:Choice>
        <mc:Fallback xmlns="">
          <p:pic>
            <p:nvPicPr>
              <p:cNvPr id="1132" name="Ink 1131">
                <a:extLst>
                  <a:ext uri="{FF2B5EF4-FFF2-40B4-BE49-F238E27FC236}">
                    <a16:creationId xmlns:a16="http://schemas.microsoft.com/office/drawing/2014/main" id="{4ACF8A0F-8981-48FC-A3F9-677C8CC513D0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7526371" y="3679622"/>
                <a:ext cx="97200" cy="116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506482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670" y="1224354"/>
            <a:ext cx="2397563" cy="4503657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13699" y="1333768"/>
            <a:ext cx="2397563" cy="4411521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81555" y="1333769"/>
            <a:ext cx="2539682" cy="4313858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67100" y="693359"/>
            <a:ext cx="2906545" cy="581912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CB49818-0D11-4756-905E-412543486BD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50049" y="382387"/>
            <a:ext cx="1619157" cy="483003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E043AFCC-F5FC-1E6B-F8D2-81465BA9C765}"/>
              </a:ext>
            </a:extLst>
          </p:cNvPr>
          <p:cNvGrpSpPr/>
          <p:nvPr/>
        </p:nvGrpSpPr>
        <p:grpSpPr>
          <a:xfrm>
            <a:off x="8902651" y="625382"/>
            <a:ext cx="350280" cy="633240"/>
            <a:chOff x="8902651" y="625382"/>
            <a:chExt cx="350280" cy="633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A46321BF-F438-68D2-B7CE-594DDE0EE8FD}"/>
                    </a:ext>
                  </a:extLst>
                </p14:cNvPr>
                <p14:cNvContentPartPr/>
                <p14:nvPr/>
              </p14:nvContentPartPr>
              <p14:xfrm>
                <a:off x="8902651" y="625382"/>
                <a:ext cx="326880" cy="54108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A46321BF-F438-68D2-B7CE-594DDE0EE8FD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8896531" y="619262"/>
                  <a:ext cx="339120" cy="55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A3F1CBCD-2C09-889C-629E-47C5F0894EEC}"/>
                    </a:ext>
                  </a:extLst>
                </p14:cNvPr>
                <p14:cNvContentPartPr/>
                <p14:nvPr/>
              </p14:nvContentPartPr>
              <p14:xfrm>
                <a:off x="9152851" y="1039382"/>
                <a:ext cx="100080" cy="21924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A3F1CBCD-2C09-889C-629E-47C5F0894EEC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9146731" y="1033262"/>
                  <a:ext cx="112320" cy="231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044780EB-FAA5-2015-144A-833019066F33}"/>
                  </a:ext>
                </a:extLst>
              </p14:cNvPr>
              <p14:cNvContentPartPr/>
              <p14:nvPr/>
            </p14:nvContentPartPr>
            <p14:xfrm>
              <a:off x="10760251" y="968102"/>
              <a:ext cx="113040" cy="75492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044780EB-FAA5-2015-144A-833019066F33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0754131" y="961982"/>
                <a:ext cx="125280" cy="767160"/>
              </a:xfrm>
              <a:prstGeom prst="rect">
                <a:avLst/>
              </a:prstGeom>
            </p:spPr>
          </p:pic>
        </mc:Fallback>
      </mc:AlternateContent>
      <p:grpSp>
        <p:nvGrpSpPr>
          <p:cNvPr id="18" name="Group 17">
            <a:extLst>
              <a:ext uri="{FF2B5EF4-FFF2-40B4-BE49-F238E27FC236}">
                <a16:creationId xmlns:a16="http://schemas.microsoft.com/office/drawing/2014/main" id="{5C5D15DD-3196-B6DD-B462-2C5CC7F56E8C}"/>
              </a:ext>
            </a:extLst>
          </p:cNvPr>
          <p:cNvGrpSpPr/>
          <p:nvPr/>
        </p:nvGrpSpPr>
        <p:grpSpPr>
          <a:xfrm>
            <a:off x="10888051" y="798182"/>
            <a:ext cx="1166760" cy="647280"/>
            <a:chOff x="10888051" y="798182"/>
            <a:chExt cx="1166760" cy="647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916EE6D2-2521-17DE-92DB-DE599C77E6E1}"/>
                    </a:ext>
                  </a:extLst>
                </p14:cNvPr>
                <p14:cNvContentPartPr/>
                <p14:nvPr/>
              </p14:nvContentPartPr>
              <p14:xfrm>
                <a:off x="10888051" y="1158542"/>
                <a:ext cx="259200" cy="2952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916EE6D2-2521-17DE-92DB-DE599C77E6E1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10881931" y="1152422"/>
                  <a:ext cx="271440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966EBED2-F31A-0131-F6B3-E4C39A54C204}"/>
                    </a:ext>
                  </a:extLst>
                </p14:cNvPr>
                <p14:cNvContentPartPr/>
                <p14:nvPr/>
              </p14:nvContentPartPr>
              <p14:xfrm>
                <a:off x="11108011" y="1068542"/>
                <a:ext cx="89640" cy="15948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966EBED2-F31A-0131-F6B3-E4C39A54C204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11101891" y="1062422"/>
                  <a:ext cx="101880" cy="17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FF46603A-D04F-FC1B-8241-D668278C4C21}"/>
                    </a:ext>
                  </a:extLst>
                </p14:cNvPr>
                <p14:cNvContentPartPr/>
                <p14:nvPr/>
              </p14:nvContentPartPr>
              <p14:xfrm>
                <a:off x="11341651" y="1028942"/>
                <a:ext cx="151200" cy="38448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FF46603A-D04F-FC1B-8241-D668278C4C21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11335531" y="1022822"/>
                  <a:ext cx="163440" cy="39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0422D3A9-C3CD-BF2B-D051-59409D0245DF}"/>
                    </a:ext>
                  </a:extLst>
                </p14:cNvPr>
                <p14:cNvContentPartPr/>
                <p14:nvPr/>
              </p14:nvContentPartPr>
              <p14:xfrm>
                <a:off x="11502931" y="1037222"/>
                <a:ext cx="310680" cy="12816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0422D3A9-C3CD-BF2B-D051-59409D0245DF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11496811" y="1031102"/>
                  <a:ext cx="322920" cy="14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0BEB0BAB-61CD-CDDC-B58C-4D7C7EFA3469}"/>
                    </a:ext>
                  </a:extLst>
                </p14:cNvPr>
                <p14:cNvContentPartPr/>
                <p14:nvPr/>
              </p14:nvContentPartPr>
              <p14:xfrm>
                <a:off x="11812891" y="971702"/>
                <a:ext cx="11880" cy="6552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0BEB0BAB-61CD-CDDC-B58C-4D7C7EFA3469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11806771" y="965582"/>
                  <a:ext cx="24120" cy="7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938F16E0-5F6E-F40E-E13A-6EB7245B8297}"/>
                    </a:ext>
                  </a:extLst>
                </p14:cNvPr>
                <p14:cNvContentPartPr/>
                <p14:nvPr/>
              </p14:nvContentPartPr>
              <p14:xfrm>
                <a:off x="11798851" y="798182"/>
                <a:ext cx="139680" cy="43452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938F16E0-5F6E-F40E-E13A-6EB7245B8297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11792731" y="792062"/>
                  <a:ext cx="151920" cy="44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28614C5F-A9BC-2202-2A7F-FDAC7C6A0D33}"/>
                    </a:ext>
                  </a:extLst>
                </p14:cNvPr>
                <p14:cNvContentPartPr/>
                <p14:nvPr/>
              </p14:nvContentPartPr>
              <p14:xfrm>
                <a:off x="11768251" y="1231262"/>
                <a:ext cx="286560" cy="21420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28614C5F-A9BC-2202-2A7F-FDAC7C6A0D33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11762131" y="1225142"/>
                  <a:ext cx="298800" cy="2264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6961711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2C2A62-9CBA-130D-0B95-6B535B34C0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9972"/>
            <a:ext cx="10515600" cy="1325563"/>
          </a:xfrm>
        </p:spPr>
        <p:txBody>
          <a:bodyPr/>
          <a:lstStyle/>
          <a:p>
            <a:r>
              <a:rPr lang="en-IN" b="1" i="0" dirty="0">
                <a:solidFill>
                  <a:srgbClr val="394F60"/>
                </a:solidFill>
                <a:effectLst/>
                <a:latin typeface="Inter"/>
              </a:rPr>
              <a:t>Supported Cloud Regions</a:t>
            </a:r>
            <a:endParaRPr lang="en-IN" dirty="0"/>
          </a:p>
        </p:txBody>
      </p:sp>
      <p:pic>
        <p:nvPicPr>
          <p:cNvPr id="1026" name="Picture 2" descr="Cloud regions supported by Snowflake">
            <a:extLst>
              <a:ext uri="{FF2B5EF4-FFF2-40B4-BE49-F238E27FC236}">
                <a16:creationId xmlns:a16="http://schemas.microsoft.com/office/drawing/2014/main" id="{0A937E3C-4F7F-54FB-4A0D-72F4186CD6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475" y="1260767"/>
            <a:ext cx="9421159" cy="53551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1E8A622-FAD3-A795-2AD9-1B3FFA54E761}"/>
              </a:ext>
            </a:extLst>
          </p:cNvPr>
          <p:cNvSpPr txBox="1"/>
          <p:nvPr/>
        </p:nvSpPr>
        <p:spPr>
          <a:xfrm>
            <a:off x="9735671" y="2586330"/>
            <a:ext cx="2456329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0" i="0" dirty="0">
                <a:solidFill>
                  <a:srgbClr val="394F60"/>
                </a:solidFill>
                <a:effectLst/>
                <a:latin typeface="Inter"/>
              </a:rPr>
              <a:t>Regions let your organization choose where your data is geographically stored across your regional, national, and international operations. </a:t>
            </a:r>
          </a:p>
          <a:p>
            <a:endParaRPr lang="en-US" sz="1600" dirty="0">
              <a:solidFill>
                <a:srgbClr val="394F60"/>
              </a:solidFill>
              <a:latin typeface="Inter"/>
            </a:endParaRPr>
          </a:p>
          <a:p>
            <a:r>
              <a:rPr lang="en-US" sz="1600" b="0" i="0" dirty="0">
                <a:solidFill>
                  <a:srgbClr val="394F60"/>
                </a:solidFill>
                <a:effectLst/>
                <a:latin typeface="Inter"/>
              </a:rPr>
              <a:t>Regions also determine where your storage &amp; compute resources are provisioned.</a:t>
            </a:r>
            <a:endParaRPr lang="en-IN" sz="160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A446AA78-C5A5-1198-1D2E-8A1A7BAAC718}"/>
                  </a:ext>
                </a:extLst>
              </p14:cNvPr>
              <p14:cNvContentPartPr/>
              <p14:nvPr/>
            </p14:nvContentPartPr>
            <p14:xfrm>
              <a:off x="6358171" y="3255182"/>
              <a:ext cx="230040" cy="16992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A446AA78-C5A5-1198-1D2E-8A1A7BAAC71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352051" y="3249062"/>
                <a:ext cx="242280" cy="182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050" name="Ink 1049">
                <a:extLst>
                  <a:ext uri="{FF2B5EF4-FFF2-40B4-BE49-F238E27FC236}">
                    <a16:creationId xmlns:a16="http://schemas.microsoft.com/office/drawing/2014/main" id="{01E9802D-FEEA-37A0-3017-DA8AB61A203E}"/>
                  </a:ext>
                </a:extLst>
              </p14:cNvPr>
              <p14:cNvContentPartPr/>
              <p14:nvPr/>
            </p14:nvContentPartPr>
            <p14:xfrm>
              <a:off x="6955411" y="3852422"/>
              <a:ext cx="1805400" cy="975240"/>
            </p14:xfrm>
          </p:contentPart>
        </mc:Choice>
        <mc:Fallback xmlns="">
          <p:pic>
            <p:nvPicPr>
              <p:cNvPr id="1050" name="Ink 1049">
                <a:extLst>
                  <a:ext uri="{FF2B5EF4-FFF2-40B4-BE49-F238E27FC236}">
                    <a16:creationId xmlns:a16="http://schemas.microsoft.com/office/drawing/2014/main" id="{01E9802D-FEEA-37A0-3017-DA8AB61A203E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949291" y="3846302"/>
                <a:ext cx="1817640" cy="987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149661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83847"/>
          </a:xfrm>
        </p:spPr>
        <p:txBody>
          <a:bodyPr/>
          <a:lstStyle/>
          <a:p>
            <a:r>
              <a:rPr lang="en-US" dirty="0"/>
              <a:t>Snowflake Architecture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E0458022-9C66-48EE-BBDA-4B8D4FE8FD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77766" y="1448972"/>
            <a:ext cx="2747890" cy="2144620"/>
          </a:xfrm>
        </p:spPr>
        <p:txBody>
          <a:bodyPr>
            <a:normAutofit lnSpcReduction="10000"/>
          </a:bodyPr>
          <a:lstStyle/>
          <a:p>
            <a:pPr algn="l"/>
            <a:r>
              <a:rPr lang="en-US" sz="16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Built only for the CLOUD </a:t>
            </a:r>
          </a:p>
          <a:p>
            <a:pPr algn="l"/>
            <a:r>
              <a:rPr lang="en-US" sz="16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Separates COMPUTE and STORAGE</a:t>
            </a:r>
            <a:endParaRPr lang="en-US" sz="160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</a:rPr>
              <a:t>Storage layer and Cloud services layer infinite scalable</a:t>
            </a:r>
          </a:p>
          <a:p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</a:rPr>
              <a:t>Virtual Warehouse almost infinite scalable</a:t>
            </a:r>
          </a:p>
          <a:p>
            <a:pPr algn="l"/>
            <a:endParaRPr lang="en-US" sz="1600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endParaRPr lang="en-IN" sz="1600" dirty="0"/>
          </a:p>
        </p:txBody>
      </p:sp>
      <p:graphicFrame>
        <p:nvGraphicFramePr>
          <p:cNvPr id="3" name="Object 2">
            <a:extLst>
              <a:ext uri="{FF2B5EF4-FFF2-40B4-BE49-F238E27FC236}">
                <a16:creationId xmlns:a16="http://schemas.microsoft.com/office/drawing/2014/main" id="{1F86189C-14E4-340B-7BB2-0DF4453A4CD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94393884"/>
              </p:ext>
            </p:extLst>
          </p:nvPr>
        </p:nvGraphicFramePr>
        <p:xfrm>
          <a:off x="957262" y="1821179"/>
          <a:ext cx="7734300" cy="430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3" imgW="7734240" imgH="4305240" progId="PBrush">
                  <p:embed/>
                </p:oleObj>
              </mc:Choice>
              <mc:Fallback>
                <p:oleObj name="Bitmap Image" r:id="rId3" imgW="7734240" imgH="4305240" progId="PBrush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57262" y="1821179"/>
                        <a:ext cx="7734300" cy="4305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81C9D918-EF32-AF84-3C41-095853B5CD71}"/>
              </a:ext>
            </a:extLst>
          </p:cNvPr>
          <p:cNvSpPr txBox="1"/>
          <p:nvPr/>
        </p:nvSpPr>
        <p:spPr>
          <a:xfrm>
            <a:off x="3084576" y="6169709"/>
            <a:ext cx="417755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b="1" i="0" dirty="0">
                <a:solidFill>
                  <a:srgbClr val="394F60"/>
                </a:solidFill>
                <a:effectLst/>
                <a:latin typeface="Inter"/>
              </a:rPr>
              <a:t>Snowflake – Multi-Cluster Shared Data Architecture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76CCB0D-C095-6AEF-4313-F8C0BE95661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1599" y="5194600"/>
            <a:ext cx="1225601" cy="76728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2883170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E4AE040-8C95-43F1-9FF4-3A0BB23182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9018" y="1303811"/>
            <a:ext cx="5975326" cy="203230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" name="TextBox 8">
            <a:extLst>
              <a:ext uri="{FF2B5EF4-FFF2-40B4-BE49-F238E27FC236}">
                <a16:creationId xmlns:a16="http://schemas.microsoft.com/office/drawing/2014/main" id="{AD6D1973-74B3-4CFB-AAE4-57C3F5F153BB}"/>
              </a:ext>
            </a:extLst>
          </p:cNvPr>
          <p:cNvSpPr txBox="1"/>
          <p:nvPr/>
        </p:nvSpPr>
        <p:spPr>
          <a:xfrm>
            <a:off x="1232638" y="4637324"/>
            <a:ext cx="955548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000" dirty="0"/>
              <a:t>The size of virtual-warehouse determines the number of servers in each cluster in the warehouse, which doubles with next incremental size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000" dirty="0"/>
              <a:t>Each node (ec2 instance) has 8 </a:t>
            </a:r>
            <a:r>
              <a:rPr lang="en-US" sz="2000" dirty="0" err="1"/>
              <a:t>vCores</a:t>
            </a:r>
            <a:r>
              <a:rPr lang="en-US" sz="2000" dirty="0"/>
              <a:t>/threads, regardless of cloud provider with 16Gb Ram and 200Gb SSD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000" dirty="0"/>
              <a:t>Default Auto-Suspend : 5 minutes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000" dirty="0"/>
              <a:t>Virtual warehouse are independent of each i.e. like we can have one for data loading, another used for accessing / analyzing the loaded data.</a:t>
            </a:r>
            <a:endParaRPr lang="en-IN" sz="2000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8ABA1B06-052E-E23B-854E-7ADA6DE47B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9972"/>
            <a:ext cx="10515600" cy="1325563"/>
          </a:xfrm>
        </p:spPr>
        <p:txBody>
          <a:bodyPr/>
          <a:lstStyle/>
          <a:p>
            <a:r>
              <a:rPr lang="en-IN" b="1" dirty="0">
                <a:solidFill>
                  <a:srgbClr val="394F60"/>
                </a:solidFill>
                <a:latin typeface="Inter"/>
              </a:rPr>
              <a:t>Virtual Warehouse (Compute)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379022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1C9112A5-F5D8-4C57-9532-AB3A1528FA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7951" y="902556"/>
            <a:ext cx="7101986" cy="505288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F6301B7-3AE9-484F-A440-4D263BA2C101}"/>
              </a:ext>
            </a:extLst>
          </p:cNvPr>
          <p:cNvSpPr txBox="1"/>
          <p:nvPr/>
        </p:nvSpPr>
        <p:spPr>
          <a:xfrm>
            <a:off x="5773686" y="4078377"/>
            <a:ext cx="123061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b="1" dirty="0"/>
              <a:t>‘M’</a:t>
            </a:r>
            <a:r>
              <a:rPr lang="en-IN" sz="1600" dirty="0"/>
              <a:t> Virtual Warehouse ETL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9FD7766-8B40-45C6-AE61-14BBE4C3B134}"/>
              </a:ext>
            </a:extLst>
          </p:cNvPr>
          <p:cNvSpPr txBox="1"/>
          <p:nvPr/>
        </p:nvSpPr>
        <p:spPr>
          <a:xfrm>
            <a:off x="7311171" y="2833160"/>
            <a:ext cx="207633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b="1" dirty="0"/>
              <a:t>‘XL’</a:t>
            </a:r>
            <a:r>
              <a:rPr lang="en-IN" sz="1600" dirty="0"/>
              <a:t> Virtual Warehouse Data Scientist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B7809A5-B893-4B98-A68D-737D45235E3E}"/>
              </a:ext>
            </a:extLst>
          </p:cNvPr>
          <p:cNvSpPr txBox="1"/>
          <p:nvPr/>
        </p:nvSpPr>
        <p:spPr>
          <a:xfrm>
            <a:off x="1773936" y="2833159"/>
            <a:ext cx="228726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b="1" dirty="0"/>
              <a:t>‘2XL’</a:t>
            </a:r>
            <a:r>
              <a:rPr lang="en-IN" sz="1600" dirty="0"/>
              <a:t> Virtual Warehouse Data Analyst</a:t>
            </a:r>
          </a:p>
        </p:txBody>
      </p:sp>
    </p:spTree>
    <p:extLst>
      <p:ext uri="{BB962C8B-B14F-4D97-AF65-F5344CB8AC3E}">
        <p14:creationId xmlns:p14="http://schemas.microsoft.com/office/powerpoint/2010/main" val="11054966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48D08D-04F0-D894-F20E-92A2DF6CCC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 Storage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35ABD6-85D5-39B1-6BD0-206677BD3C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In AWS/S3 Object or AZURE Blob way</a:t>
            </a:r>
          </a:p>
          <a:p>
            <a:r>
              <a:rPr lang="en-IN" dirty="0"/>
              <a:t>Columnar Storage</a:t>
            </a:r>
          </a:p>
          <a:p>
            <a:r>
              <a:rPr lang="en-IN" dirty="0"/>
              <a:t>Compressed</a:t>
            </a:r>
          </a:p>
          <a:p>
            <a:r>
              <a:rPr lang="en-IN" dirty="0"/>
              <a:t>AES 256 encrypted</a:t>
            </a:r>
          </a:p>
          <a:p>
            <a:pPr marL="0" indent="0">
              <a:buNone/>
            </a:pPr>
            <a:r>
              <a:rPr lang="en-IN" dirty="0"/>
              <a:t>All above the process is </a:t>
            </a:r>
            <a:r>
              <a:rPr lang="en-IN"/>
              <a:t>automated while </a:t>
            </a:r>
            <a:r>
              <a:rPr lang="en-IN" dirty="0"/>
              <a:t>data loading in snowflake</a:t>
            </a:r>
          </a:p>
        </p:txBody>
      </p:sp>
    </p:spTree>
    <p:extLst>
      <p:ext uri="{BB962C8B-B14F-4D97-AF65-F5344CB8AC3E}">
        <p14:creationId xmlns:p14="http://schemas.microsoft.com/office/powerpoint/2010/main" val="12407497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174D5774-E587-4BD0-9A50-8BC3C20158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79388"/>
            <a:ext cx="12192000" cy="6499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187AB03-6693-483D-A224-472EABBF91E2}"/>
              </a:ext>
            </a:extLst>
          </p:cNvPr>
          <p:cNvSpPr txBox="1"/>
          <p:nvPr/>
        </p:nvSpPr>
        <p:spPr>
          <a:xfrm>
            <a:off x="5602458" y="6211669"/>
            <a:ext cx="619681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u="sng" dirty="0" err="1">
                <a:latin typeface="Bahnschrift Light Condensed" panose="020B0502040204020203" pitchFamily="34" charset="0"/>
              </a:rPr>
              <a:t>Eg</a:t>
            </a:r>
            <a:r>
              <a:rPr lang="en-IN" sz="2000" u="sng" dirty="0">
                <a:latin typeface="Bahnschrift Light Condensed" panose="020B0502040204020203" pitchFamily="34" charset="0"/>
              </a:rPr>
              <a:t>: Observe how the </a:t>
            </a:r>
            <a:r>
              <a:rPr lang="en-IN" sz="2000" b="1" u="sng" dirty="0">
                <a:solidFill>
                  <a:schemeClr val="accent5">
                    <a:lumMod val="75000"/>
                  </a:schemeClr>
                </a:solidFill>
                <a:latin typeface="Bahnschrift Light Condensed" panose="020B0502040204020203" pitchFamily="34" charset="0"/>
              </a:rPr>
              <a:t>blue</a:t>
            </a:r>
            <a:r>
              <a:rPr lang="en-IN" sz="2000" u="sng" dirty="0">
                <a:latin typeface="Bahnschrift Light Condensed" panose="020B0502040204020203" pitchFamily="34" charset="0"/>
              </a:rPr>
              <a:t> coloured and </a:t>
            </a:r>
            <a:r>
              <a:rPr lang="en-IN" sz="2000" b="1" u="sng" dirty="0">
                <a:solidFill>
                  <a:srgbClr val="D60093"/>
                </a:solidFill>
                <a:latin typeface="Bahnschrift Light Condensed" panose="020B0502040204020203" pitchFamily="34" charset="0"/>
              </a:rPr>
              <a:t>magenta</a:t>
            </a:r>
            <a:r>
              <a:rPr lang="en-IN" sz="2000" u="sng" dirty="0">
                <a:latin typeface="Bahnschrift Light Condensed" panose="020B0502040204020203" pitchFamily="34" charset="0"/>
              </a:rPr>
              <a:t> coloured data stored</a:t>
            </a:r>
          </a:p>
        </p:txBody>
      </p:sp>
    </p:spTree>
    <p:extLst>
      <p:ext uri="{BB962C8B-B14F-4D97-AF65-F5344CB8AC3E}">
        <p14:creationId xmlns:p14="http://schemas.microsoft.com/office/powerpoint/2010/main" val="40773684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6103E4A-2DDF-D5C1-5EF0-3C7EF252C2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74520"/>
            <a:ext cx="10631284" cy="335584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8DCB3566-4246-A5FF-F680-4DC272EE1E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83847"/>
          </a:xfrm>
        </p:spPr>
        <p:txBody>
          <a:bodyPr/>
          <a:lstStyle/>
          <a:p>
            <a:r>
              <a:rPr lang="en-US" dirty="0"/>
              <a:t>Snowflake</a:t>
            </a:r>
          </a:p>
        </p:txBody>
      </p:sp>
    </p:spTree>
    <p:extLst>
      <p:ext uri="{BB962C8B-B14F-4D97-AF65-F5344CB8AC3E}">
        <p14:creationId xmlns:p14="http://schemas.microsoft.com/office/powerpoint/2010/main" val="13669168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581ACAD-96FB-0519-0082-F27DA5579A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597" y="1056944"/>
            <a:ext cx="11688806" cy="474411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3086645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2BE148C-6D19-6BB0-F987-BAA09CF404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1110" y="573220"/>
            <a:ext cx="7735380" cy="5382376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5BCF8CE-4D04-53B9-1B17-9D78363DE557}"/>
              </a:ext>
            </a:extLst>
          </p:cNvPr>
          <p:cNvSpPr txBox="1"/>
          <p:nvPr/>
        </p:nvSpPr>
        <p:spPr>
          <a:xfrm>
            <a:off x="8707374" y="6488668"/>
            <a:ext cx="257632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dirty="0"/>
              <a:t>1 to Many Relationships</a:t>
            </a:r>
          </a:p>
        </p:txBody>
      </p:sp>
    </p:spTree>
    <p:extLst>
      <p:ext uri="{BB962C8B-B14F-4D97-AF65-F5344CB8AC3E}">
        <p14:creationId xmlns:p14="http://schemas.microsoft.com/office/powerpoint/2010/main" val="24899206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763</TotalTime>
  <Words>235</Words>
  <Application>Microsoft Office PowerPoint</Application>
  <PresentationFormat>Widescreen</PresentationFormat>
  <Paragraphs>31</Paragraphs>
  <Slides>13</Slides>
  <Notes>2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1" baseType="lpstr">
      <vt:lpstr>Arial</vt:lpstr>
      <vt:lpstr>Bahnschrift Light Condensed</vt:lpstr>
      <vt:lpstr>Calibri</vt:lpstr>
      <vt:lpstr>Calibri Light</vt:lpstr>
      <vt:lpstr>Inter</vt:lpstr>
      <vt:lpstr>MyriadPro-SemiboldCond</vt:lpstr>
      <vt:lpstr>Office Theme</vt:lpstr>
      <vt:lpstr>Bitmap Image</vt:lpstr>
      <vt:lpstr>PowerPoint Presentation</vt:lpstr>
      <vt:lpstr>Traditional - ETL / DWH / BI</vt:lpstr>
      <vt:lpstr>PowerPoint Presentation</vt:lpstr>
      <vt:lpstr>PowerPoint Presentation</vt:lpstr>
      <vt:lpstr>Supported Cloud Regions</vt:lpstr>
      <vt:lpstr>Snowflake Architecture</vt:lpstr>
      <vt:lpstr>Virtual Warehouse (Compute)</vt:lpstr>
      <vt:lpstr>PowerPoint Presentation</vt:lpstr>
      <vt:lpstr>Data Storage</vt:lpstr>
      <vt:lpstr>PowerPoint Presentation</vt:lpstr>
      <vt:lpstr>Snowflake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Omar Ali Khan 18202</dc:creator>
  <cp:lastModifiedBy>VTLingeswara Rao</cp:lastModifiedBy>
  <cp:revision>179</cp:revision>
  <dcterms:created xsi:type="dcterms:W3CDTF">2020-12-25T06:31:29Z</dcterms:created>
  <dcterms:modified xsi:type="dcterms:W3CDTF">2026-06-15T07:31:18Z</dcterms:modified>
</cp:coreProperties>
</file>